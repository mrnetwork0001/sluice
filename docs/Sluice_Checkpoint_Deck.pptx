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6035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6000" b="1">
                <a:solidFill>
                  <a:srgbClr val="22D3EE"/>
                </a:solidFill>
                <a:latin typeface="Helvetica Neue"/>
              </a:rPr>
              <a:t>SLUICE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6035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Payroll that flows,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block by block.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F4F4F5"/>
                </a:solidFill>
                <a:latin typeface="Helvetica Neue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A1A1AA"/>
                </a:solidFill>
                <a:latin typeface="Helvetica Neue"/>
              </a:rPr>
              <a:t>Streaming USDC salaries on Arc — tax splits itself, income becomes a liquid asset, and idle escrow earns yield across chains.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0">
                <a:solidFill>
                  <a:srgbClr val="71717A"/>
                </a:solidFill>
                <a:latin typeface="Helvetica Neue"/>
              </a:rPr>
              <a:t>Programmable Money Hackathon</a:t>
            </a:r>
            <a:r>
              <a:rPr sz="1300" b="0">
                <a:solidFill>
                  <a:srgbClr val="71717A"/>
                </a:solidFill>
                <a:latin typeface="Helvetica Neue"/>
              </a:rPr>
              <a:t>   ·   </a:t>
            </a:r>
            <a:r>
              <a:rPr sz="1300" b="1">
                <a:solidFill>
                  <a:srgbClr val="34D399"/>
                </a:solidFill>
                <a:latin typeface="Helvetica Neue"/>
              </a:rPr>
              <a:t>DeFi Track</a:t>
            </a:r>
            <a:r>
              <a:rPr sz="1300" b="0">
                <a:solidFill>
                  <a:srgbClr val="71717A"/>
                </a:solidFill>
                <a:latin typeface="Helvetica Neue"/>
              </a:rPr>
              <a:t>   ·   </a:t>
            </a:r>
            <a:r>
              <a:rPr sz="1300" b="0">
                <a:solidFill>
                  <a:srgbClr val="22D3EE"/>
                </a:solidFill>
                <a:latin typeface="Menlo"/>
              </a:rPr>
              <a:t>github.com/mrnetwork0001/Sluice</a:t>
            </a:r>
          </a:p>
        </p:txBody>
      </p:sp>
      <p:pic>
        <p:nvPicPr>
          <p:cNvPr id="5" name="Picture 4" descr="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5720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Payroll is a batch job from the 1970s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22D3EE"/>
                </a:solidFill>
                <a:latin typeface="Helvetica Neue"/>
              </a:rPr>
              <a:t>→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Workers deliver value every second — but get paid every 30 days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22D3EE"/>
                </a:solidFill>
                <a:latin typeface="Helvetica Neue"/>
              </a:rPr>
              <a:t>→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Between pay runs, employees are their employer's unsecured creditors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22D3EE"/>
                </a:solidFill>
                <a:latin typeface="Helvetica Neue"/>
              </a:rPr>
              <a:t>→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Tax withholding is manual back-office work, reconciled after the fact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BBF24"/>
                </a:solidFill>
                <a:latin typeface="Helvetica Neue"/>
              </a:rPr>
              <a:t>→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Payroll escrow sits idle — the largest dead capital pool in any company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FBBF24"/>
                </a:solidFill>
                <a:latin typeface="Helvetica Neue"/>
              </a:rPr>
              <a:t>→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Future income is real value that workers cannot access or trade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Salary as programmable money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700" b="0">
                <a:solidFill>
                  <a:srgbClr val="A1A1AA"/>
                </a:solidFill>
                <a:latin typeface="Helvetica Neue"/>
              </a:rPr>
              <a:t>Employer escrows USDC </a:t>
            </a:r>
            <a:r>
              <a:rPr sz="1700" b="1">
                <a:solidFill>
                  <a:srgbClr val="34D399"/>
                </a:solidFill>
                <a:latin typeface="Helvetica Neue"/>
              </a:rPr>
              <a:t>once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 → salary vests </a:t>
            </a:r>
            <a:r>
              <a:rPr sz="1700" b="1">
                <a:solidFill>
                  <a:srgbClr val="34D399"/>
                </a:solidFill>
                <a:latin typeface="Helvetica Neue"/>
              </a:rPr>
              <a:t>every second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 on Arc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Tax splits itself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configured bps route to a tax vault on every withdrawal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Income is an asset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each stream is an ERC-3525 token: split, sell, borrow, insure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Escrow works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idle payroll routes to cross-chain yield, recalled on demand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22D3EE"/>
                </a:solidFill>
                <a:latin typeface="Helvetica Neue"/>
              </a:rPr>
              <a:t>Native rails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Arc L1: USDC gas, sub-second finality</a:t>
            </a:r>
          </a:p>
        </p:txBody>
      </p:sp>
      <p:pic>
        <p:nvPicPr>
          <p:cNvPr id="7" name="Picture 6" descr="02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Three moves, one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enlo"/>
              </a:rPr>
              <a:t>01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4F4F5"/>
                </a:solidFill>
                <a:latin typeface="Helvetica Neue"/>
              </a:rPr>
              <a:t>Escrow once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1A1AA"/>
                </a:solidFill>
                <a:latin typeface="Helvetica Neue"/>
              </a:rPr>
              <a:t>Employer funds a stream: amount, duration, tax bps, tax vault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82880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enlo"/>
              </a:rPr>
              <a:t>02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4F4F5"/>
                </a:solidFill>
                <a:latin typeface="Helvetica Neue"/>
              </a:rPr>
              <a:t>Vest per second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1A1AA"/>
                </a:solidFill>
                <a:latin typeface="Helvetica Neue"/>
              </a:rPr>
              <a:t>Employee holds an ERC-3525 SFT whose value = USDC left to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828800"/>
            <a:ext cx="3383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D3EE"/>
                </a:solidFill>
                <a:latin typeface="Menlo"/>
              </a:rPr>
              <a:t>03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F4F4F5"/>
                </a:solidFill>
                <a:latin typeface="Helvetica Neue"/>
              </a:rPr>
              <a:t>Withdraw — or automate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A1A1AA"/>
                </a:solidFill>
                <a:latin typeface="Helvetica Neue"/>
              </a:rPr>
              <a:t>Tax routes itself; Swap Kit rules convert each paycheck</a:t>
            </a:r>
          </a:p>
        </p:txBody>
      </p:sp>
      <p:pic>
        <p:nvPicPr>
          <p:cNvPr id="8" name="Picture 7" descr="04-stream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566160"/>
            <a:ext cx="77724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ERC-3525 STREAMS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Every salary is a semi-fungible token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Value = money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token value equals the remaining streamable USDC; the stream IS the asset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Split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carve part of your salary to another address; schedule carries pro-rata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Merge &amp; transfer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same-schedule streams combine; whole streams change hands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22D3EE"/>
                </a:solidFill>
                <a:latin typeface="Helvetica Neue"/>
              </a:rPr>
              <a:t>Composable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standard rails, works with any protocol that speaks tokens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2377440"/>
            <a:ext cx="3657600" cy="1371600"/>
          </a:xfrm>
          <a:prstGeom prst="rect">
            <a:avLst/>
          </a:prstGeom>
          <a:solidFill>
            <a:srgbClr val="11161F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260604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22D3EE"/>
                </a:solidFill>
                <a:latin typeface="Menlo"/>
              </a:rPr>
              <a:t>transferFrom(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F4F4F5"/>
                </a:solidFill>
                <a:latin typeface="Menlo"/>
              </a:rPr>
              <a:t>  streamId, to, value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400" b="0">
                <a:solidFill>
                  <a:srgbClr val="22D3EE"/>
                </a:solidFill>
                <a:latin typeface="Menlo"/>
              </a:rPr>
              <a:t>) → new stream SFT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INSTANT LIQUIDITY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Need cash before payday?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34D399"/>
                </a:solidFill>
                <a:latin typeface="Helvetica Neue"/>
              </a:rPr>
              <a:t>P2P marketplace —  </a:t>
            </a:r>
            <a:r>
              <a:rPr sz="1800" b="0">
                <a:solidFill>
                  <a:srgbClr val="A1A1AA"/>
                </a:solidFill>
                <a:latin typeface="Helvetica Neue"/>
              </a:rPr>
              <a:t>list future income at a discount; an LP pays today and collects the full stream. SFT + payment settle atomically.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34D399"/>
                </a:solidFill>
                <a:latin typeface="Helvetica Neue"/>
              </a:rPr>
              <a:t>Salary advances —  </a:t>
            </a:r>
            <a:r>
              <a:rPr sz="1800" b="0">
                <a:solidFill>
                  <a:srgbClr val="A1A1AA"/>
                </a:solidFill>
                <a:latin typeface="Helvetica Neue"/>
              </a:rPr>
              <a:t>borrow up to 50% of unwithdrawn value. Zero interest, zero liquidations — the advance repays itself as salary vests.</a:t>
            </a:r>
          </a:p>
        </p:txBody>
      </p:sp>
      <p:pic>
        <p:nvPicPr>
          <p:cNvPr id="6" name="Picture 5" descr="07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78308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SELF-INSURED SALARIES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A credit-default pool for payroll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34D399"/>
                </a:solidFill>
                <a:latin typeface="Helvetica Neue"/>
              </a:rPr>
              <a:t>0.5% once —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employee pays a one-time premium; the stream is insured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34D399"/>
                </a:solidFill>
                <a:latin typeface="Helvetica Neue"/>
              </a:rPr>
              <a:t>Default covered —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employer cancels early? The unvested remainder is claimable from the pool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34D399"/>
                </a:solidFill>
                <a:latin typeface="Helvetica Neue"/>
              </a:rPr>
              <a:t>Staker-underwritten —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USDC stakers back the pool and earn every premium (share-based)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>
                <a:solidFill>
                  <a:srgbClr val="22D3EE"/>
                </a:solidFill>
                <a:latin typeface="Helvetica Neue"/>
              </a:rPr>
              <a:t>Live demo pool —  </a:t>
            </a:r>
            <a:r>
              <a:rPr sz="2000" b="0">
                <a:solidFill>
                  <a:srgbClr val="A1A1AA"/>
                </a:solidFill>
                <a:latin typeface="Helvetica Neue"/>
              </a:rPr>
              <a:t>50,000+ USDC staked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CHAIN-ABSTRACTED PAYROLL · CCTP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Arc settles. Every other chain is an on/off ramp.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Fund from any chain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one CCTP burn on Base opens a stream on Arc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Withdraw to any chain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net salary exits via CCTP; tax stays on Arc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34D399"/>
                </a:solidFill>
                <a:latin typeface="Helvetica Neue"/>
              </a:rPr>
              <a:t>Buy a stream from any chain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burn + hook settles the purchase atomically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22D3EE"/>
                </a:solidFill>
                <a:latin typeface="Helvetica Neue"/>
              </a:rPr>
              <a:t>Zero bridges in the UX —  </a:t>
            </a:r>
            <a:r>
              <a:rPr sz="1700" b="0">
                <a:solidFill>
                  <a:srgbClr val="A1A1AA"/>
                </a:solidFill>
                <a:latin typeface="Helvetica Neue"/>
              </a:rPr>
              <a:t>the word 'bridge' appears nowhere in the UI</a:t>
            </a:r>
          </a:p>
        </p:txBody>
      </p:sp>
      <p:pic>
        <p:nvPicPr>
          <p:cNvPr id="6" name="Picture 5" descr="16-fund-from-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8308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CROSS-CHAIN AUTO-YIELD TREASURY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Idle escrow earns —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Sweep —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escrow above a 40% liquidity buffer moves to the treasury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Rebalance —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Arc money market (4.2%) + Base vault (8.6%) via CCTP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Auto-recall —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withdrawal outruns the buffer? Liquidity returns mid-transaction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Helvetica Neue"/>
              </a:rPr>
              <a:t>Yield comes home —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remote positions exit with earnings via a hooked return</a:t>
            </a:r>
          </a:p>
        </p:txBody>
      </p:sp>
      <p:pic>
        <p:nvPicPr>
          <p:cNvPr id="6" name="Picture 5" descr="18-treasury-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3535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Native to Arc + Circle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61264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900" b="1">
                <a:solidFill>
                  <a:srgbClr val="F4F4F5"/>
                </a:solidFill>
                <a:latin typeface="Helvetica Neue"/>
              </a:rPr>
              <a:t>Arc L1 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USDC gas · sub-second finality · chain 5042002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900" b="1">
                <a:solidFill>
                  <a:srgbClr val="F4F4F5"/>
                </a:solidFill>
                <a:latin typeface="Helvetica Neue"/>
              </a:rPr>
              <a:t>CCTP v2 pattern 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burn/mint + hooks power every cross-chain flow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900" b="1">
                <a:solidFill>
                  <a:srgbClr val="F4F4F5"/>
                </a:solidFill>
                <a:latin typeface="Helvetica Neue"/>
              </a:rPr>
              <a:t>Swap Kit 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per-paycheck auto-conversion (e.g. 20% → EURC)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900" b="1">
                <a:solidFill>
                  <a:srgbClr val="F4F4F5"/>
                </a:solidFill>
                <a:latin typeface="Helvetica Neue"/>
              </a:rPr>
              <a:t>App Kit / Bridge Kit 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integrated in the frontend, testnet-ready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900" b="1">
                <a:solidFill>
                  <a:srgbClr val="F4F4F5"/>
                </a:solidFill>
                <a:latin typeface="Helvetica Neue"/>
              </a:rPr>
              <a:t>ERC-3525 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semi-fungible salary streams</a:t>
            </a:r>
          </a:p>
        </p:txBody>
      </p:sp>
      <p:pic>
        <p:nvPicPr>
          <p:cNvPr id="6" name="Picture 5" descr="06-automation-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920240"/>
            <a:ext cx="4297680" cy="28651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STATUS · IT WORKS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Not a mockup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5852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✓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26/26 Foundry tests — vesting math, SFT splits, marketplace, insurance, full cross-chain stack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✓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CI green on every commit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✓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Full frontend — dashboard, stream detail, marketplace, treasury, automation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✓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Every flow driven end-to-end in a real browser — a 0.25 USDC withdrawal arrived on Base as exactly 0.23, net of 8% tax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34D399"/>
                </a:solidFill>
                <a:latin typeface="Helvetica Neue"/>
              </a:rPr>
              <a:t>✓  </a:t>
            </a:r>
            <a:r>
              <a:rPr sz="1600" b="0">
                <a:solidFill>
                  <a:srgbClr val="A1A1AA"/>
                </a:solidFill>
                <a:latin typeface="Helvetica Neue"/>
              </a:rPr>
              <a:t>One-command demo: ./dev.sh (twin chains + CCTP relayer + app)</a:t>
            </a:r>
          </a:p>
        </p:txBody>
      </p:sp>
      <p:pic>
        <p:nvPicPr>
          <p:cNvPr id="6" name="Picture 5" descr="05-withdraw-trig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4663440" cy="3108960"/>
          </a:xfrm>
          <a:prstGeom prst="rect">
            <a:avLst/>
          </a:prstGeom>
        </p:spPr>
      </p:pic>
      <p:pic>
        <p:nvPicPr>
          <p:cNvPr id="7" name="Picture 6" descr="15-bought-from-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416052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2D3EE"/>
                </a:solidFill>
                <a:latin typeface="Helvetica Neue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3400" b="1">
                <a:solidFill>
                  <a:srgbClr val="F4F4F5"/>
                </a:solidFill>
                <a:latin typeface="Helvetica Neue"/>
              </a:rPr>
              <a:t>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28016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34D399"/>
                </a:solidFill>
                <a:latin typeface="Helvetica Neue"/>
              </a:rPr>
              <a:t>Arc testnet deployment —  </a:t>
            </a:r>
            <a:r>
              <a:rPr sz="1900" b="0">
                <a:solidFill>
                  <a:srgbClr val="A1A1AA"/>
                </a:solidFill>
                <a:latin typeface="Helvetica Neue"/>
              </a:rPr>
              <a:t>script ready, USDC-gas native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34D399"/>
                </a:solidFill>
                <a:latin typeface="Helvetica Neue"/>
              </a:rPr>
              <a:t>Real CCTP domains —  </a:t>
            </a:r>
            <a:r>
              <a:rPr sz="1900" b="0">
                <a:solidFill>
                  <a:srgbClr val="A1A1AA"/>
                </a:solidFill>
                <a:latin typeface="Helvetica Neue"/>
              </a:rPr>
              <a:t>Circle Bridge Kit + Gateway unified balances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34D399"/>
                </a:solidFill>
                <a:latin typeface="Helvetica Neue"/>
              </a:rPr>
              <a:t>sluiceapp.xyz —  </a:t>
            </a:r>
            <a:r>
              <a:rPr sz="1900" b="0">
                <a:solidFill>
                  <a:srgbClr val="A1A1AA"/>
                </a:solidFill>
                <a:latin typeface="Helvetica Neue"/>
              </a:rPr>
              <a:t>public launch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34D399"/>
                </a:solidFill>
                <a:latin typeface="Helvetica Neue"/>
              </a:rPr>
              <a:t>Scale —  </a:t>
            </a:r>
            <a:r>
              <a:rPr sz="1900" b="0">
                <a:solidFill>
                  <a:srgbClr val="A1A1AA"/>
                </a:solidFill>
                <a:latin typeface="Helvetica Neue"/>
              </a:rPr>
              <a:t>employer dashboards, payroll batches, fiat off-ramp partners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2200" b="1">
                <a:solidFill>
                  <a:srgbClr val="22D3EE"/>
                </a:solidFill>
                <a:latin typeface="Menlo"/>
              </a:rPr>
              <a:t>github.com/mrnetwork0001/Sluice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3000" b="1">
                <a:solidFill>
                  <a:srgbClr val="F4F4F5"/>
                </a:solidFill>
                <a:latin typeface="Helvetica Neue"/>
              </a:rPr>
              <a:t>Open the sluice.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