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intro: Sluice turns a salary from a monthly batch payment into a programmable, per-second money stream on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pain is universal: timing mismatch, compliance overhead, dead capital, illiquid income. Each maps to a Sluice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on this slide is live and clickable today — 26 passing contract tests, CI green, fully working 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rate: this stream vests 0.001929 USDC per second — the employee watches their balance grow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primitive everything else is built on. Value transfers keep vesting math exact — covered by dedicated fork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$1,200 stream listed at $1,080 — buyer earns the spread, seller gets liquidity now. No credit checks, no loan sharks.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turns 'trust your employer' into 'trust the pool' — and gives LPs a real yield source: premiums.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CCTP v2 hooks make the destination chain programmable: the mint itself opens the stream or executes the buyout. Verified end-to-end on our twin-chain rig — the messenger mirrors CCTP v2's depositForBurnWithHook, so pointing at real testnet domains via Circle's Bridge Kit is config, not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activity feed on the screenshot: swept 34,215 → split across two chains → recalled home with yield → redeployed. All on-chain events, all automated.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 Circle's newest primitives as the product's spine, not as a checkbox.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in this deck is reproducible from the repo in one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payroll is the largest recurring money flow on earth. Making it programmable is what this chain was built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22D3EE"/>
                </a:solidFill>
                <a:latin typeface="Helvetica Neue"/>
              </a:rPr>
              <a:t>SLUICE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4F5"/>
                </a:solidFill>
                <a:latin typeface="Helvetica Neue"/>
              </a:rPr>
              <a:t>Payroll that flows,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4F5"/>
                </a:solidFill>
                <a:latin typeface="Helvetica Neue"/>
              </a:rPr>
              <a:t>block by block.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F4F4F5"/>
                </a:solidFill>
                <a:latin typeface="Helvetica Neue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A1A1AA"/>
                </a:solidFill>
                <a:latin typeface="Helvetica Neue"/>
              </a:rPr>
              <a:t>Streaming USDC salaries on Arc — tax splits itself, income becomes a liquid asset, and idle escrow earns yield across chains.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71717A"/>
                </a:solidFill>
                <a:latin typeface="Helvetica Neue"/>
              </a:rPr>
              <a:t>Programmable Money Hackathon</a:t>
            </a:r>
            <a:r>
              <a:rPr sz="1300" b="0">
                <a:solidFill>
                  <a:srgbClr val="71717A"/>
                </a:solidFill>
                <a:latin typeface="Helvetica Neue"/>
              </a:rPr>
              <a:t>   ·   </a:t>
            </a:r>
            <a:r>
              <a:rPr sz="1300" b="1">
                <a:solidFill>
                  <a:srgbClr val="34D399"/>
                </a:solidFill>
                <a:latin typeface="Helvetica Neue"/>
              </a:rPr>
              <a:t>DeFi Track</a:t>
            </a:r>
            <a:r>
              <a:rPr sz="1300" b="0">
                <a:solidFill>
                  <a:srgbClr val="71717A"/>
                </a:solidFill>
                <a:latin typeface="Helvetica Neue"/>
              </a:rPr>
              <a:t>   ·   </a:t>
            </a:r>
            <a:r>
              <a:rPr sz="1300" b="0">
                <a:solidFill>
                  <a:srgbClr val="22D3EE"/>
                </a:solidFill>
                <a:latin typeface="Menlo"/>
              </a:rPr>
              <a:t>github.com/mrnetwork0001/Sluice</a:t>
            </a:r>
          </a:p>
        </p:txBody>
      </p:sp>
      <p:pic>
        <p:nvPicPr>
          <p:cNvPr id="5" name="Picture 4" descr="01-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54480"/>
            <a:ext cx="4572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4F5"/>
                </a:solidFill>
                <a:latin typeface="Helvetica Neue"/>
              </a:rPr>
              <a:t>Payroll is a batch job from the 1970s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2D3EE"/>
                </a:solidFill>
                <a:latin typeface="Helvetica Neue"/>
              </a:rPr>
              <a:t>→  </a:t>
            </a:r>
            <a:r>
              <a:rPr sz="2000" b="0">
                <a:solidFill>
                  <a:srgbClr val="A1A1AA"/>
                </a:solidFill>
                <a:latin typeface="Helvetica Neue"/>
              </a:rPr>
              <a:t>Workers deliver value every second — but get paid every 30 days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2D3EE"/>
                </a:solidFill>
                <a:latin typeface="Helvetica Neue"/>
              </a:rPr>
              <a:t>→  </a:t>
            </a:r>
            <a:r>
              <a:rPr sz="2000" b="0">
                <a:solidFill>
                  <a:srgbClr val="A1A1AA"/>
                </a:solidFill>
                <a:latin typeface="Helvetica Neue"/>
              </a:rPr>
              <a:t>Between pay runs, employees are their employer's unsecured creditors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2D3EE"/>
                </a:solidFill>
                <a:latin typeface="Helvetica Neue"/>
              </a:rPr>
              <a:t>→  </a:t>
            </a:r>
            <a:r>
              <a:rPr sz="2000" b="0">
                <a:solidFill>
                  <a:srgbClr val="A1A1AA"/>
                </a:solidFill>
                <a:latin typeface="Helvetica Neue"/>
              </a:rPr>
              <a:t>Tax withholding is manual back-office work, reconciled after the fact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FBBF24"/>
                </a:solidFill>
                <a:latin typeface="Helvetica Neue"/>
              </a:rPr>
              <a:t>→  </a:t>
            </a:r>
            <a:r>
              <a:rPr sz="2000" b="0">
                <a:solidFill>
                  <a:srgbClr val="A1A1AA"/>
                </a:solidFill>
                <a:latin typeface="Helvetica Neue"/>
              </a:rPr>
              <a:t>Payroll escrow sits idle — the largest dead capital pool in any company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FBBF24"/>
                </a:solidFill>
                <a:latin typeface="Helvetica Neue"/>
              </a:rPr>
              <a:t>→  </a:t>
            </a:r>
            <a:r>
              <a:rPr sz="2000" b="0">
                <a:solidFill>
                  <a:srgbClr val="A1A1AA"/>
                </a:solidFill>
                <a:latin typeface="Helvetica Neue"/>
              </a:rPr>
              <a:t>Future income is real value that workers cannot access or trade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Helvetica Neue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4F5"/>
                </a:solidFill>
                <a:latin typeface="Helvetica Neue"/>
              </a:rPr>
              <a:t>Salary as programmable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A1A1AA"/>
                </a:solidFill>
                <a:latin typeface="Helvetica Neue"/>
              </a:rPr>
              <a:t>Employer escrows USDC </a:t>
            </a:r>
            <a:r>
              <a:rPr sz="1700" b="1">
                <a:solidFill>
                  <a:srgbClr val="34D399"/>
                </a:solidFill>
                <a:latin typeface="Helvetica Neue"/>
              </a:rPr>
              <a:t>once</a:t>
            </a:r>
            <a:r>
              <a:rPr sz="1700" b="0">
                <a:solidFill>
                  <a:srgbClr val="A1A1AA"/>
                </a:solidFill>
                <a:latin typeface="Helvetica Neue"/>
              </a:rPr>
              <a:t> → salary vests </a:t>
            </a:r>
            <a:r>
              <a:rPr sz="1700" b="1">
                <a:solidFill>
                  <a:srgbClr val="34D399"/>
                </a:solidFill>
                <a:latin typeface="Helvetica Neue"/>
              </a:rPr>
              <a:t>every second</a:t>
            </a:r>
            <a:r>
              <a:rPr sz="1700" b="0">
                <a:solidFill>
                  <a:srgbClr val="A1A1AA"/>
                </a:solidFill>
                <a:latin typeface="Helvetica Neue"/>
              </a:rPr>
              <a:t> on 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34D399"/>
                </a:solidFill>
                <a:latin typeface="Helvetica Neue"/>
              </a:rPr>
              <a:t>Tax splits itself —  </a:t>
            </a:r>
            <a:r>
              <a:rPr sz="1700" b="0">
                <a:solidFill>
                  <a:srgbClr val="A1A1AA"/>
                </a:solidFill>
                <a:latin typeface="Helvetica Neue"/>
              </a:rPr>
              <a:t>configured bps route to a tax vault on every withdrawal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34D399"/>
                </a:solidFill>
                <a:latin typeface="Helvetica Neue"/>
              </a:rPr>
              <a:t>Income is an asset —  </a:t>
            </a:r>
            <a:r>
              <a:rPr sz="1700" b="0">
                <a:solidFill>
                  <a:srgbClr val="A1A1AA"/>
                </a:solidFill>
                <a:latin typeface="Helvetica Neue"/>
              </a:rPr>
              <a:t>each stream is an ERC-3525 token: split, sell, borrow, insure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34D399"/>
                </a:solidFill>
                <a:latin typeface="Helvetica Neue"/>
              </a:rPr>
              <a:t>Escrow works —  </a:t>
            </a:r>
            <a:r>
              <a:rPr sz="1700" b="0">
                <a:solidFill>
                  <a:srgbClr val="A1A1AA"/>
                </a:solidFill>
                <a:latin typeface="Helvetica Neue"/>
              </a:rPr>
              <a:t>idle payroll routes to cross-chain yield, recalled on demand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Helvetica Neue"/>
              </a:rPr>
              <a:t>Native rails —  </a:t>
            </a:r>
            <a:r>
              <a:rPr sz="1700" b="0">
                <a:solidFill>
                  <a:srgbClr val="A1A1AA"/>
                </a:solidFill>
                <a:latin typeface="Helvetica Neue"/>
              </a:rPr>
              <a:t>Arc L1: USDC gas, sub-second finality</a:t>
            </a:r>
          </a:p>
        </p:txBody>
      </p:sp>
      <p:pic>
        <p:nvPicPr>
          <p:cNvPr id="7" name="Picture 6" descr="02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783080"/>
            <a:ext cx="46634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Helvetica Neue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4F5"/>
                </a:solidFill>
                <a:latin typeface="Helvetica Neue"/>
              </a:rPr>
              <a:t>Three moves, one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Menlo"/>
              </a:rPr>
              <a:t>01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4F4F5"/>
                </a:solidFill>
                <a:latin typeface="Helvetica Neue"/>
              </a:rPr>
              <a:t>Escrow once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A1A1AA"/>
                </a:solidFill>
                <a:latin typeface="Helvetica Neue"/>
              </a:rPr>
              <a:t>Employer funds a stream: amount, duration, tax bps, tax 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8288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Menlo"/>
              </a:rPr>
              <a:t>02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4F4F5"/>
                </a:solidFill>
                <a:latin typeface="Helvetica Neue"/>
              </a:rPr>
              <a:t>Vest per second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A1A1AA"/>
                </a:solidFill>
                <a:latin typeface="Helvetica Neue"/>
              </a:rPr>
              <a:t>Employee holds an ERC-3525 SFT whose value = USDC left to 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Menlo"/>
              </a:rPr>
              <a:t>03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4F4F5"/>
                </a:solidFill>
                <a:latin typeface="Helvetica Neue"/>
              </a:rPr>
              <a:t>Withdraw — or automate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A1A1AA"/>
                </a:solidFill>
                <a:latin typeface="Helvetica Neue"/>
              </a:rPr>
              <a:t>Tax routes itself; Swap Kit rules convert each paycheck</a:t>
            </a:r>
          </a:p>
        </p:txBody>
      </p:sp>
      <p:pic>
        <p:nvPicPr>
          <p:cNvPr id="8" name="Picture 7" descr="04-stream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566160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Helvetica Neue"/>
              </a:rPr>
              <a:t>ERC-3525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4F5"/>
                </a:solidFill>
                <a:latin typeface="Helvetica Neue"/>
              </a:rPr>
              <a:t>Every salary is a semi-fungible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34D399"/>
                </a:solidFill>
                <a:latin typeface="Helvetica Neue"/>
              </a:rPr>
              <a:t>Value = money —  </a:t>
            </a:r>
            <a:r>
              <a:rPr sz="1700" b="0">
                <a:solidFill>
                  <a:srgbClr val="A1A1AA"/>
                </a:solidFill>
                <a:latin typeface="Helvetica Neue"/>
              </a:rPr>
              <a:t>token value equals the remaining streamable USDC; the stream IS the asset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34D399"/>
                </a:solidFill>
                <a:latin typeface="Helvetica Neue"/>
              </a:rPr>
              <a:t>Split —  </a:t>
            </a:r>
            <a:r>
              <a:rPr sz="1700" b="0">
                <a:solidFill>
                  <a:srgbClr val="A1A1AA"/>
                </a:solidFill>
                <a:latin typeface="Helvetica Neue"/>
              </a:rPr>
              <a:t>carve part of your salary to another address; schedule carries pro-rata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34D399"/>
                </a:solidFill>
                <a:latin typeface="Helvetica Neue"/>
              </a:rPr>
              <a:t>Merge &amp; transfer —  </a:t>
            </a:r>
            <a:r>
              <a:rPr sz="1700" b="0">
                <a:solidFill>
                  <a:srgbClr val="A1A1AA"/>
                </a:solidFill>
                <a:latin typeface="Helvetica Neue"/>
              </a:rPr>
              <a:t>same-schedule streams combine; whole streams change hands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Helvetica Neue"/>
              </a:rPr>
              <a:t>Composable —  </a:t>
            </a:r>
            <a:r>
              <a:rPr sz="1700" b="0">
                <a:solidFill>
                  <a:srgbClr val="A1A1AA"/>
                </a:solidFill>
                <a:latin typeface="Helvetica Neue"/>
              </a:rPr>
              <a:t>standard rails, works with any protocol that speaks tokens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377440"/>
            <a:ext cx="3657600" cy="1371600"/>
          </a:xfrm>
          <a:prstGeom prst="rect">
            <a:avLst/>
          </a:prstGeom>
          <a:solidFill>
            <a:srgbClr val="11161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6060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22D3EE"/>
                </a:solidFill>
                <a:latin typeface="Menlo"/>
              </a:rPr>
              <a:t>transferFrom(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F4F4F5"/>
                </a:solidFill>
                <a:latin typeface="Menlo"/>
              </a:rPr>
              <a:t>  streamId, to, value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22D3EE"/>
                </a:solidFill>
                <a:latin typeface="Menlo"/>
              </a:rPr>
              <a:t>) → new stream SFT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Helvetica Neue"/>
              </a:rPr>
              <a:t>INSTANT 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4F5"/>
                </a:solidFill>
                <a:latin typeface="Helvetica Neue"/>
              </a:rPr>
              <a:t>Need cash before payday?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Helvetica Neue"/>
              </a:rPr>
              <a:t>P2P marketplace —  </a:t>
            </a:r>
            <a:r>
              <a:rPr sz="1800" b="0">
                <a:solidFill>
                  <a:srgbClr val="A1A1AA"/>
                </a:solidFill>
                <a:latin typeface="Helvetica Neue"/>
              </a:rPr>
              <a:t>list future income at a discount; an LP pays today and collects the full stream. SFT + payment settle atomically.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1">
                <a:solidFill>
                  <a:srgbClr val="34D399"/>
                </a:solidFill>
                <a:latin typeface="Helvetica Neue"/>
              </a:rPr>
              <a:t>Salary advances —  </a:t>
            </a:r>
            <a:r>
              <a:rPr sz="1800" b="0">
                <a:solidFill>
                  <a:srgbClr val="A1A1AA"/>
                </a:solidFill>
                <a:latin typeface="Helvetica Neue"/>
              </a:rPr>
              <a:t>borrow up to 50% of unwithdrawn value. Zero interest, zero liquidations — the advance repays itself as salary vests.</a:t>
            </a:r>
          </a:p>
        </p:txBody>
      </p:sp>
      <p:pic>
        <p:nvPicPr>
          <p:cNvPr id="6" name="Picture 5" descr="07-marketpl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83080"/>
            <a:ext cx="512064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Helvetica Neue"/>
              </a:rPr>
              <a:t>SELF-INSURED SALARIES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4F5"/>
                </a:solidFill>
                <a:latin typeface="Helvetica Neue"/>
              </a:rPr>
              <a:t>A credit-default pool for payroll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34D399"/>
                </a:solidFill>
                <a:latin typeface="Helvetica Neue"/>
              </a:rPr>
              <a:t>0.5% once —  </a:t>
            </a:r>
            <a:r>
              <a:rPr sz="2000" b="0">
                <a:solidFill>
                  <a:srgbClr val="A1A1AA"/>
                </a:solidFill>
                <a:latin typeface="Helvetica Neue"/>
              </a:rPr>
              <a:t>employee pays a one-time premium; the stream is insured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34D399"/>
                </a:solidFill>
                <a:latin typeface="Helvetica Neue"/>
              </a:rPr>
              <a:t>Default covered —  </a:t>
            </a:r>
            <a:r>
              <a:rPr sz="2000" b="0">
                <a:solidFill>
                  <a:srgbClr val="A1A1AA"/>
                </a:solidFill>
                <a:latin typeface="Helvetica Neue"/>
              </a:rPr>
              <a:t>employer cancels early? The unvested remainder is claimable from the pool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34D399"/>
                </a:solidFill>
                <a:latin typeface="Helvetica Neue"/>
              </a:rPr>
              <a:t>Staker-underwritten —  </a:t>
            </a:r>
            <a:r>
              <a:rPr sz="2000" b="0">
                <a:solidFill>
                  <a:srgbClr val="A1A1AA"/>
                </a:solidFill>
                <a:latin typeface="Helvetica Neue"/>
              </a:rPr>
              <a:t>USDC stakers back the pool and earn every premium (share-based)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22D3EE"/>
                </a:solidFill>
                <a:latin typeface="Helvetica Neue"/>
              </a:rPr>
              <a:t>Live demo pool —  </a:t>
            </a:r>
            <a:r>
              <a:rPr sz="2000" b="0">
                <a:solidFill>
                  <a:srgbClr val="A1A1AA"/>
                </a:solidFill>
                <a:latin typeface="Helvetica Neue"/>
              </a:rPr>
              <a:t>50,000+ USDC staked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Helvetica Neue"/>
              </a:rPr>
              <a:t>CHAIN-ABSTRACTED PAYROLL · CCTP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4F5"/>
                </a:solidFill>
                <a:latin typeface="Helvetica Neue"/>
              </a:rPr>
              <a:t>Arc settles. Every other chain is an on/off ramp.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34D399"/>
                </a:solidFill>
                <a:latin typeface="Helvetica Neue"/>
              </a:rPr>
              <a:t>Fund from any chain —  </a:t>
            </a:r>
            <a:r>
              <a:rPr sz="1700" b="0">
                <a:solidFill>
                  <a:srgbClr val="A1A1AA"/>
                </a:solidFill>
                <a:latin typeface="Helvetica Neue"/>
              </a:rPr>
              <a:t>one CCTP burn on Base opens a stream on Arc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34D399"/>
                </a:solidFill>
                <a:latin typeface="Helvetica Neue"/>
              </a:rPr>
              <a:t>Withdraw to any chain —  </a:t>
            </a:r>
            <a:r>
              <a:rPr sz="1700" b="0">
                <a:solidFill>
                  <a:srgbClr val="A1A1AA"/>
                </a:solidFill>
                <a:latin typeface="Helvetica Neue"/>
              </a:rPr>
              <a:t>net salary exits via CCTP; tax stays on Arc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34D399"/>
                </a:solidFill>
                <a:latin typeface="Helvetica Neue"/>
              </a:rPr>
              <a:t>Buy a stream from any chain —  </a:t>
            </a:r>
            <a:r>
              <a:rPr sz="1700" b="0">
                <a:solidFill>
                  <a:srgbClr val="A1A1AA"/>
                </a:solidFill>
                <a:latin typeface="Helvetica Neue"/>
              </a:rPr>
              <a:t>burn + hook settles the purchase atomically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Helvetica Neue"/>
              </a:rPr>
              <a:t>Zero bridges in the UX —  </a:t>
            </a:r>
            <a:r>
              <a:rPr sz="1700" b="0">
                <a:solidFill>
                  <a:srgbClr val="A1A1AA"/>
                </a:solidFill>
                <a:latin typeface="Helvetica Neue"/>
              </a:rPr>
              <a:t>the word 'bridge' appears nowhere in the UI</a:t>
            </a:r>
          </a:p>
        </p:txBody>
      </p:sp>
      <p:pic>
        <p:nvPicPr>
          <p:cNvPr id="6" name="Picture 5" descr="16-fund-from-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783080"/>
            <a:ext cx="4846320" cy="3230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Helvetica Neue"/>
              </a:rPr>
              <a:t>CROSS-CHAIN AUTO-YIELD TREASURY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4F5"/>
                </a:solidFill>
                <a:latin typeface="Helvetica Neue"/>
              </a:rPr>
              <a:t>Idle escrow earns — everywhere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34D399"/>
                </a:solidFill>
                <a:latin typeface="Helvetica Neue"/>
              </a:rPr>
              <a:t>Sweep —  </a:t>
            </a:r>
            <a:r>
              <a:rPr sz="1600" b="0">
                <a:solidFill>
                  <a:srgbClr val="A1A1AA"/>
                </a:solidFill>
                <a:latin typeface="Helvetica Neue"/>
              </a:rPr>
              <a:t>escrow above a 40% liquidity buffer moves to the treasury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34D399"/>
                </a:solidFill>
                <a:latin typeface="Helvetica Neue"/>
              </a:rPr>
              <a:t>Rebalance —  </a:t>
            </a:r>
            <a:r>
              <a:rPr sz="1600" b="0">
                <a:solidFill>
                  <a:srgbClr val="A1A1AA"/>
                </a:solidFill>
                <a:latin typeface="Helvetica Neue"/>
              </a:rPr>
              <a:t>Arc money market (4.2%) + Base vault (8.6%) via CCTP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34D399"/>
                </a:solidFill>
                <a:latin typeface="Helvetica Neue"/>
              </a:rPr>
              <a:t>Auto-recall —  </a:t>
            </a:r>
            <a:r>
              <a:rPr sz="1600" b="0">
                <a:solidFill>
                  <a:srgbClr val="A1A1AA"/>
                </a:solidFill>
                <a:latin typeface="Helvetica Neue"/>
              </a:rPr>
              <a:t>withdrawal outruns the buffer? Liquidity returns mid-transaction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22D3EE"/>
                </a:solidFill>
                <a:latin typeface="Helvetica Neue"/>
              </a:rPr>
              <a:t>Yield comes home —  </a:t>
            </a:r>
            <a:r>
              <a:rPr sz="1600" b="0">
                <a:solidFill>
                  <a:srgbClr val="A1A1AA"/>
                </a:solidFill>
                <a:latin typeface="Helvetica Neue"/>
              </a:rPr>
              <a:t>remote positions exit with earnings via a hooked return</a:t>
            </a:r>
          </a:p>
        </p:txBody>
      </p:sp>
      <p:pic>
        <p:nvPicPr>
          <p:cNvPr id="6" name="Picture 5" descr="18-treasury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83080"/>
            <a:ext cx="5303520" cy="3535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Helvetica Neue"/>
              </a:rPr>
              <a:t>BUILT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4F5"/>
                </a:solidFill>
                <a:latin typeface="Helvetica Neue"/>
              </a:rPr>
              <a:t>Native to Arc + Circle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1">
                <a:solidFill>
                  <a:srgbClr val="F4F4F5"/>
                </a:solidFill>
                <a:latin typeface="Helvetica Neue"/>
              </a:rPr>
              <a:t>Arc L1   </a:t>
            </a:r>
            <a:r>
              <a:rPr sz="1600" b="0">
                <a:solidFill>
                  <a:srgbClr val="A1A1AA"/>
                </a:solidFill>
                <a:latin typeface="Helvetica Neue"/>
              </a:rPr>
              <a:t>USDC gas · sub-second finality · chain 5042002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1">
                <a:solidFill>
                  <a:srgbClr val="F4F4F5"/>
                </a:solidFill>
                <a:latin typeface="Helvetica Neue"/>
              </a:rPr>
              <a:t>CCTP v2 pattern   </a:t>
            </a:r>
            <a:r>
              <a:rPr sz="1600" b="0">
                <a:solidFill>
                  <a:srgbClr val="A1A1AA"/>
                </a:solidFill>
                <a:latin typeface="Helvetica Neue"/>
              </a:rPr>
              <a:t>burn/mint + hooks power every cross-chain flow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1">
                <a:solidFill>
                  <a:srgbClr val="F4F4F5"/>
                </a:solidFill>
                <a:latin typeface="Helvetica Neue"/>
              </a:rPr>
              <a:t>Swap Kit   </a:t>
            </a:r>
            <a:r>
              <a:rPr sz="1600" b="0">
                <a:solidFill>
                  <a:srgbClr val="A1A1AA"/>
                </a:solidFill>
                <a:latin typeface="Helvetica Neue"/>
              </a:rPr>
              <a:t>per-paycheck auto-conversion (e.g. 20% → EURC)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1">
                <a:solidFill>
                  <a:srgbClr val="F4F4F5"/>
                </a:solidFill>
                <a:latin typeface="Helvetica Neue"/>
              </a:rPr>
              <a:t>App Kit / Bridge Kit   </a:t>
            </a:r>
            <a:r>
              <a:rPr sz="1600" b="0">
                <a:solidFill>
                  <a:srgbClr val="A1A1AA"/>
                </a:solidFill>
                <a:latin typeface="Helvetica Neue"/>
              </a:rPr>
              <a:t>integrated in the frontend, testnet-ready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900" b="1">
                <a:solidFill>
                  <a:srgbClr val="F4F4F5"/>
                </a:solidFill>
                <a:latin typeface="Helvetica Neue"/>
              </a:rPr>
              <a:t>ERC-3525   </a:t>
            </a:r>
            <a:r>
              <a:rPr sz="1600" b="0">
                <a:solidFill>
                  <a:srgbClr val="A1A1AA"/>
                </a:solidFill>
                <a:latin typeface="Helvetica Neue"/>
              </a:rPr>
              <a:t>semi-fungible salary streams</a:t>
            </a:r>
          </a:p>
        </p:txBody>
      </p:sp>
      <p:pic>
        <p:nvPicPr>
          <p:cNvPr id="6" name="Picture 5" descr="06-automation-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920240"/>
            <a:ext cx="4297680" cy="2865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Helvetica Neue"/>
              </a:rPr>
              <a:t>STATUS · IT WORKS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4F5"/>
                </a:solidFill>
                <a:latin typeface="Helvetica Neue"/>
              </a:rPr>
              <a:t>Not a mockup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34D399"/>
                </a:solidFill>
                <a:latin typeface="Helvetica Neue"/>
              </a:rPr>
              <a:t>✓  </a:t>
            </a:r>
            <a:r>
              <a:rPr sz="1600" b="0">
                <a:solidFill>
                  <a:srgbClr val="A1A1AA"/>
                </a:solidFill>
                <a:latin typeface="Helvetica Neue"/>
              </a:rPr>
              <a:t>26/26 Foundry tests — vesting math, SFT splits, marketplace, insurance, full cross-chain stack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34D399"/>
                </a:solidFill>
                <a:latin typeface="Helvetica Neue"/>
              </a:rPr>
              <a:t>✓  </a:t>
            </a:r>
            <a:r>
              <a:rPr sz="1600" b="0">
                <a:solidFill>
                  <a:srgbClr val="A1A1AA"/>
                </a:solidFill>
                <a:latin typeface="Helvetica Neue"/>
              </a:rPr>
              <a:t>CI green on every commit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34D399"/>
                </a:solidFill>
                <a:latin typeface="Helvetica Neue"/>
              </a:rPr>
              <a:t>✓  </a:t>
            </a:r>
            <a:r>
              <a:rPr sz="1600" b="0">
                <a:solidFill>
                  <a:srgbClr val="A1A1AA"/>
                </a:solidFill>
                <a:latin typeface="Helvetica Neue"/>
              </a:rPr>
              <a:t>Full frontend — dashboard, stream detail, marketplace, treasury, automation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34D399"/>
                </a:solidFill>
                <a:latin typeface="Helvetica Neue"/>
              </a:rPr>
              <a:t>✓  </a:t>
            </a:r>
            <a:r>
              <a:rPr sz="1600" b="0">
                <a:solidFill>
                  <a:srgbClr val="A1A1AA"/>
                </a:solidFill>
                <a:latin typeface="Helvetica Neue"/>
              </a:rPr>
              <a:t>Every flow driven end-to-end in a real browser — a 0.25 USDC withdrawal arrived on Base as exactly 0.23, net of 8% tax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34D399"/>
                </a:solidFill>
                <a:latin typeface="Helvetica Neue"/>
              </a:rPr>
              <a:t>✓  </a:t>
            </a:r>
            <a:r>
              <a:rPr sz="1600" b="0">
                <a:solidFill>
                  <a:srgbClr val="A1A1AA"/>
                </a:solidFill>
                <a:latin typeface="Helvetica Neue"/>
              </a:rPr>
              <a:t>One-command demo: ./dev.sh (twin chains + CCTP relayer + app)</a:t>
            </a:r>
          </a:p>
        </p:txBody>
      </p:sp>
      <p:pic>
        <p:nvPicPr>
          <p:cNvPr id="6" name="Picture 5" descr="05-withdraw-tri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45920"/>
            <a:ext cx="4663440" cy="3108960"/>
          </a:xfrm>
          <a:prstGeom prst="rect">
            <a:avLst/>
          </a:prstGeom>
        </p:spPr>
      </p:pic>
      <p:pic>
        <p:nvPicPr>
          <p:cNvPr id="7" name="Picture 6" descr="15-bought-from-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160520"/>
            <a:ext cx="46634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Helvetica Neue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4F4F5"/>
                </a:solidFill>
                <a:latin typeface="Helvetica Neue"/>
              </a:rPr>
              <a:t>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81328"/>
            <a:ext cx="128016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34D399"/>
                </a:solidFill>
                <a:latin typeface="Helvetica Neue"/>
              </a:rPr>
              <a:t>Arc testnet deployment —  </a:t>
            </a:r>
            <a:r>
              <a:rPr sz="1900" b="0">
                <a:solidFill>
                  <a:srgbClr val="A1A1AA"/>
                </a:solidFill>
                <a:latin typeface="Helvetica Neue"/>
              </a:rPr>
              <a:t>script ready, USDC-gas native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34D399"/>
                </a:solidFill>
                <a:latin typeface="Helvetica Neue"/>
              </a:rPr>
              <a:t>Real CCTP domains —  </a:t>
            </a:r>
            <a:r>
              <a:rPr sz="1900" b="0">
                <a:solidFill>
                  <a:srgbClr val="A1A1AA"/>
                </a:solidFill>
                <a:latin typeface="Helvetica Neue"/>
              </a:rPr>
              <a:t>Circle Bridge Kit + Gateway unified balances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34D399"/>
                </a:solidFill>
                <a:latin typeface="Helvetica Neue"/>
              </a:rPr>
              <a:t>sluiceapp.xyz —  </a:t>
            </a:r>
            <a:r>
              <a:rPr sz="1900" b="0">
                <a:solidFill>
                  <a:srgbClr val="A1A1AA"/>
                </a:solidFill>
                <a:latin typeface="Helvetica Neue"/>
              </a:rPr>
              <a:t>public launch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900" b="1">
                <a:solidFill>
                  <a:srgbClr val="34D399"/>
                </a:solidFill>
                <a:latin typeface="Helvetica Neue"/>
              </a:rPr>
              <a:t>Scale —  </a:t>
            </a:r>
            <a:r>
              <a:rPr sz="1900" b="0">
                <a:solidFill>
                  <a:srgbClr val="A1A1AA"/>
                </a:solidFill>
                <a:latin typeface="Helvetica Neue"/>
              </a:rPr>
              <a:t>employer dashboards, payroll batches, fiat off-ramp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200" b="1">
                <a:solidFill>
                  <a:srgbClr val="22D3EE"/>
                </a:solidFill>
                <a:latin typeface="Menlo"/>
              </a:rPr>
              <a:t>github.com/mrnetwork0001/Sluice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3000" b="1">
                <a:solidFill>
                  <a:srgbClr val="F4F4F5"/>
                </a:solidFill>
                <a:latin typeface="Helvetica Neue"/>
              </a:rPr>
              <a:t>Open the sluice.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